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</p:sldIdLst>
  <p:sldSz cx="12192000" cy="6858000"/>
  <p:notesSz cx="7772400" cy="100584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/>
    <p:restoredTop sz="94651"/>
  </p:normalViewPr>
  <p:slideViewPr>
    <p:cSldViewPr snapToGrid="0">
      <p:cViewPr varScale="1">
        <p:scale>
          <a:sx n="105" d="100"/>
          <a:sy n="105" d="100"/>
        </p:scale>
        <p:origin x="20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C7816B-A335-4B47-8695-8157C8C8A86B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975841-7698-4A3E-B31E-B2FA89402BA4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B82CA4-3C35-401C-B2AE-9DA1C410F8F8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9408F3-C21E-42EF-888D-A39F2A409BBC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bschnitts-&#10;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Mastertextformat bearbeiten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21CC69-BB74-4F56-B264-8AB6CE20C2D5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9B5182-1CEE-44FD-9FCA-121B089B05CA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ergleic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180152-2829-48E0-A3BA-25F838A07884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54737A-5763-437B-93B1-4A10FFB90EBC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8C512C-1385-4A3B-BA40-80516C07E942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mit 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2FE696-BEC3-4CF2-AAEE-65715908E250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ld mit 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058FE9-48AB-43AF-8BC6-515BB413D98B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C2AC0-7F18-1F4A-18F3-807613D2A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>
            <a:extLst>
              <a:ext uri="{FF2B5EF4-FFF2-40B4-BE49-F238E27FC236}">
                <a16:creationId xmlns:a16="http://schemas.microsoft.com/office/drawing/2014/main" id="{B8A9F370-368D-CDFA-F6A7-89734861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5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 cap="small" dirty="0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 Light"/>
              </a:rPr>
              <a:t>Milestone 1: Team „</a:t>
            </a:r>
            <a:r>
              <a:rPr lang="de-DE" sz="4400" b="0" u="none" strike="noStrike" cap="small" dirty="0" err="1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 Light"/>
              </a:rPr>
              <a:t>Pandaas</a:t>
            </a:r>
            <a:r>
              <a:rPr lang="de-DE" sz="4400" b="0" u="none" strike="noStrike" cap="small" dirty="0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 Light"/>
              </a:rPr>
              <a:t>“</a:t>
            </a:r>
            <a:endParaRPr lang="de-DE" sz="4400" b="0" u="none" strike="noStrike" dirty="0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Textfeld 7">
            <a:extLst>
              <a:ext uri="{FF2B5EF4-FFF2-40B4-BE49-F238E27FC236}">
                <a16:creationId xmlns:a16="http://schemas.microsoft.com/office/drawing/2014/main" id="{56430AF5-33EC-D956-6B8F-D668AA5EB16E}"/>
              </a:ext>
            </a:extLst>
          </p:cNvPr>
          <p:cNvSpPr/>
          <p:nvPr/>
        </p:nvSpPr>
        <p:spPr>
          <a:xfrm>
            <a:off x="924120" y="878760"/>
            <a:ext cx="872532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8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Members:</a:t>
            </a:r>
            <a:r>
              <a:rPr lang="de-DE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de-DE" sz="18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Adarsh</a:t>
            </a:r>
            <a:r>
              <a:rPr lang="de-DE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Panda, </a:t>
            </a:r>
            <a:r>
              <a:rPr lang="de-DE" sz="18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Abriti</a:t>
            </a:r>
            <a:r>
              <a:rPr lang="de-DE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de-DE" sz="18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Chakraborty</a:t>
            </a:r>
            <a:r>
              <a:rPr lang="de-DE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, Anushree Rege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de-DE" sz="18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Dataset:</a:t>
            </a:r>
            <a:r>
              <a:rPr lang="de-DE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Average Task Value : </a:t>
            </a:r>
            <a:r>
              <a:rPr lang="de-DE" dirty="0">
                <a:solidFill>
                  <a:schemeClr val="dk1"/>
                </a:solidFill>
              </a:rPr>
              <a:t>https://</a:t>
            </a:r>
            <a:r>
              <a:rPr lang="de-DE" dirty="0" err="1">
                <a:solidFill>
                  <a:schemeClr val="dk1"/>
                </a:solidFill>
              </a:rPr>
              <a:t>openneuro.org</a:t>
            </a:r>
            <a:r>
              <a:rPr lang="de-DE" dirty="0">
                <a:solidFill>
                  <a:schemeClr val="dk1"/>
                </a:solidFill>
              </a:rPr>
              <a:t>/</a:t>
            </a:r>
            <a:r>
              <a:rPr lang="de-DE" dirty="0" err="1">
                <a:solidFill>
                  <a:schemeClr val="dk1"/>
                </a:solidFill>
              </a:rPr>
              <a:t>datasets</a:t>
            </a:r>
            <a:r>
              <a:rPr lang="de-DE" dirty="0">
                <a:solidFill>
                  <a:schemeClr val="dk1"/>
                </a:solidFill>
              </a:rPr>
              <a:t>/ds004147/</a:t>
            </a:r>
            <a:r>
              <a:rPr lang="de-DE" dirty="0" err="1">
                <a:solidFill>
                  <a:schemeClr val="dk1"/>
                </a:solidFill>
              </a:rPr>
              <a:t>versions</a:t>
            </a:r>
            <a:r>
              <a:rPr lang="de-DE" dirty="0">
                <a:solidFill>
                  <a:schemeClr val="dk1"/>
                </a:solidFill>
              </a:rPr>
              <a:t>/1.0.2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feld 10">
            <a:extLst>
              <a:ext uri="{FF2B5EF4-FFF2-40B4-BE49-F238E27FC236}">
                <a16:creationId xmlns:a16="http://schemas.microsoft.com/office/drawing/2014/main" id="{9241B490-EFE9-5BA4-7247-15B49F180063}"/>
              </a:ext>
            </a:extLst>
          </p:cNvPr>
          <p:cNvSpPr/>
          <p:nvPr/>
        </p:nvSpPr>
        <p:spPr>
          <a:xfrm>
            <a:off x="1045800" y="1856880"/>
            <a:ext cx="3952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8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1. Experimental </a:t>
            </a:r>
            <a:r>
              <a:rPr lang="de-DE" sz="1800" b="0" u="none" strike="noStrike" dirty="0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procedure</a:t>
            </a:r>
            <a:r>
              <a:rPr lang="de-DE" sz="18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 / Main </a:t>
            </a:r>
            <a:r>
              <a:rPr lang="de-DE" sz="1800" b="0" u="none" strike="noStrike" dirty="0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idea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feld 13">
            <a:extLst>
              <a:ext uri="{FF2B5EF4-FFF2-40B4-BE49-F238E27FC236}">
                <a16:creationId xmlns:a16="http://schemas.microsoft.com/office/drawing/2014/main" id="{FA287F4D-C096-2D80-EADE-7E05034BE92F}"/>
              </a:ext>
            </a:extLst>
          </p:cNvPr>
          <p:cNvSpPr/>
          <p:nvPr/>
        </p:nvSpPr>
        <p:spPr>
          <a:xfrm>
            <a:off x="1143000" y="4256031"/>
            <a:ext cx="35568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8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3. Main </a:t>
            </a:r>
            <a:r>
              <a:rPr lang="de-DE" sz="1800" b="0" u="none" strike="noStrike" dirty="0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finding</a:t>
            </a:r>
            <a:r>
              <a:rPr lang="de-DE" sz="18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de-DE" sz="1800" b="0" u="none" strike="noStrike" dirty="0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to</a:t>
            </a:r>
            <a:r>
              <a:rPr lang="de-DE" sz="18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de-DE" sz="1800" b="0" u="none" strike="noStrike" dirty="0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be</a:t>
            </a:r>
            <a:r>
              <a:rPr lang="de-DE" sz="18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de-DE" sz="1800" b="0" u="none" strike="noStrike" dirty="0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replicated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feld 16">
            <a:extLst>
              <a:ext uri="{FF2B5EF4-FFF2-40B4-BE49-F238E27FC236}">
                <a16:creationId xmlns:a16="http://schemas.microsoft.com/office/drawing/2014/main" id="{058D1134-C1D1-5175-B3F5-95C49E0A379F}"/>
              </a:ext>
            </a:extLst>
          </p:cNvPr>
          <p:cNvSpPr/>
          <p:nvPr/>
        </p:nvSpPr>
        <p:spPr>
          <a:xfrm>
            <a:off x="6644160" y="2198520"/>
            <a:ext cx="4571640" cy="20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feld 17">
            <a:extLst>
              <a:ext uri="{FF2B5EF4-FFF2-40B4-BE49-F238E27FC236}">
                <a16:creationId xmlns:a16="http://schemas.microsoft.com/office/drawing/2014/main" id="{143D81C8-2DBA-C914-A30C-EB6F55F87D7F}"/>
              </a:ext>
            </a:extLst>
          </p:cNvPr>
          <p:cNvSpPr/>
          <p:nvPr/>
        </p:nvSpPr>
        <p:spPr>
          <a:xfrm>
            <a:off x="7108560" y="1899804"/>
            <a:ext cx="3952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8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2. The </a:t>
            </a:r>
            <a:r>
              <a:rPr lang="de-DE" sz="1800" b="0" u="none" strike="noStrike" dirty="0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main</a:t>
            </a:r>
            <a:r>
              <a:rPr lang="de-DE" sz="18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de-DE" sz="1800" b="0" u="none" strike="noStrike" dirty="0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research</a:t>
            </a:r>
            <a:r>
              <a:rPr lang="de-DE" sz="18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de-DE" sz="1800" b="0" u="none" strike="noStrike" dirty="0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question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feld 18">
            <a:extLst>
              <a:ext uri="{FF2B5EF4-FFF2-40B4-BE49-F238E27FC236}">
                <a16:creationId xmlns:a16="http://schemas.microsoft.com/office/drawing/2014/main" id="{3A48E66F-DECB-AEA1-7033-A91FBBD31281}"/>
              </a:ext>
            </a:extLst>
          </p:cNvPr>
          <p:cNvSpPr/>
          <p:nvPr/>
        </p:nvSpPr>
        <p:spPr>
          <a:xfrm>
            <a:off x="7025047" y="4259917"/>
            <a:ext cx="3952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8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4. Main type </a:t>
            </a:r>
            <a:r>
              <a:rPr lang="de-DE" sz="1800" b="0" u="none" strike="noStrike" dirty="0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of</a:t>
            </a:r>
            <a:r>
              <a:rPr lang="de-DE" sz="18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de-DE" sz="1800" b="0" u="none" strike="noStrike" dirty="0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analysis</a:t>
            </a:r>
            <a:r>
              <a:rPr lang="de-DE" sz="18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de-DE" sz="1800" b="0" u="none" strike="noStrike" dirty="0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to</a:t>
            </a:r>
            <a:r>
              <a:rPr lang="de-DE" sz="18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de-DE" sz="1800" b="0" u="none" strike="noStrike" dirty="0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be</a:t>
            </a:r>
            <a:r>
              <a:rPr lang="de-DE" sz="18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de-DE" sz="1800" b="0" u="none" strike="noStrike" dirty="0" err="1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run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026" name="Picture 2" descr="110+ Three Pandas Stock Photos, Pictures &amp; Royalty-Free ...">
            <a:extLst>
              <a:ext uri="{FF2B5EF4-FFF2-40B4-BE49-F238E27FC236}">
                <a16:creationId xmlns:a16="http://schemas.microsoft.com/office/drawing/2014/main" id="{4FF249BB-E92E-D158-8C2A-78DEFD360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4609" y="74535"/>
            <a:ext cx="2245757" cy="158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EEF39C-0810-91C7-81DD-9409DA6C7F26}"/>
              </a:ext>
            </a:extLst>
          </p:cNvPr>
          <p:cNvSpPr txBox="1"/>
          <p:nvPr/>
        </p:nvSpPr>
        <p:spPr>
          <a:xfrm>
            <a:off x="1080283" y="2276268"/>
            <a:ext cx="512611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Participants perform a simple reward-based task where they receive feedback (monetary reward or no reward) after each trial.</a:t>
            </a:r>
            <a:r>
              <a:rPr lang="en-DE" altLang="en-DE" dirty="0"/>
              <a:t> </a:t>
            </a:r>
            <a:r>
              <a:rPr kumimoji="0" lang="en-DE" altLang="en-DE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Before each trial, a cue indicates the context — whether the potential reward is high-value or low-value.</a:t>
            </a:r>
            <a:endParaRPr kumimoji="0" lang="en-DE" altLang="en-DE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C63573CC-C447-D0F1-F349-F86EFE5D3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1920" y="2322809"/>
            <a:ext cx="45716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Does the brain’s feedback response (FRN) depend not only on </a:t>
            </a:r>
            <a:r>
              <a:rPr kumimoji="0" lang="en-DE" altLang="en-DE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whether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a reward is received, but also on the </a:t>
            </a:r>
            <a:r>
              <a:rPr kumimoji="0" lang="en-DE" altLang="en-DE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context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or </a:t>
            </a:r>
            <a:r>
              <a:rPr kumimoji="0" lang="en-DE" altLang="en-DE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value expectation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of that reward?</a:t>
            </a: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56FD44D-D9F3-22EB-3AA4-BFE42BB5D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935764"/>
            <a:ext cx="473693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ERP (Event-Related Potential) focusing on the</a:t>
            </a:r>
            <a:br>
              <a:rPr kumimoji="0" lang="en-DE" altLang="en-DE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DE" altLang="en-DE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Feedback-Related Negativity (FRN) component,</a:t>
            </a:r>
            <a:br>
              <a:rPr kumimoji="0" lang="en-DE" altLang="en-DE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DE" altLang="en-DE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to compare neural responses between high-value and low-value reward contexts.</a:t>
            </a:r>
            <a:endParaRPr kumimoji="0" lang="en-DE" altLang="en-DE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7C3DEA5A-9749-3EF7-9F45-2B474CF4D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560" y="4922883"/>
            <a:ext cx="41072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If the brain processes reward contextually,</a:t>
            </a:r>
            <a:r>
              <a:rPr lang="en-DE" altLang="en-DE" dirty="0">
                <a:latin typeface="+mn-lt"/>
              </a:rPr>
              <a:t> </a:t>
            </a:r>
            <a:r>
              <a:rPr kumimoji="0" lang="en-DE" altLang="en-DE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FRN amplitude will differ between high-value and low value contexts,</a:t>
            </a:r>
            <a:r>
              <a:rPr lang="en-DE" altLang="en-DE" dirty="0">
                <a:latin typeface="+mn-lt"/>
              </a:rPr>
              <a:t> </a:t>
            </a:r>
            <a:r>
              <a:rPr kumimoji="0" lang="en-DE" altLang="en-DE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even when the actual reward is the same.</a:t>
            </a:r>
            <a:endParaRPr kumimoji="0" lang="en-DE" altLang="en-DE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3150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1316</TotalTime>
  <Words>190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Symbol</vt:lpstr>
      <vt:lpstr>Wingdings</vt:lpstr>
      <vt:lpstr>Office</vt:lpstr>
      <vt:lpstr>Milestone 1: Team „Pandaas“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1: Team „Strawbrainy“</dc:title>
  <dc:subject/>
  <dc:creator>Benedikt Ehinger</dc:creator>
  <dc:description/>
  <cp:lastModifiedBy>Anushree Rege</cp:lastModifiedBy>
  <cp:revision>10</cp:revision>
  <dcterms:created xsi:type="dcterms:W3CDTF">2025-10-09T12:23:50Z</dcterms:created>
  <dcterms:modified xsi:type="dcterms:W3CDTF">2025-10-29T13:07:13Z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1</vt:i4>
  </property>
</Properties>
</file>