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7"/>
    <p:restoredTop sz="94658"/>
  </p:normalViewPr>
  <p:slideViewPr>
    <p:cSldViewPr snapToGrid="0">
      <p:cViewPr varScale="1">
        <p:scale>
          <a:sx n="120" d="100"/>
          <a:sy n="120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F578CA-8DF3-4D0F-BAC6-09C7E8FA2ED7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35B932-1B99-47C2-873F-FC2B77C575D0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ld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BC1D4B-70C4-4FDA-9381-4E74A01779DF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75C03D-268F-48D6-8BBA-48BCDFAC229F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B6009E-BD3A-4ED7-A69A-6F2D2B080CBA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6DD3E6-5766-4AE3-8ED4-266055B19D02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bschnitts-&#10;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7CE12E-F0F5-4C4B-81A8-B35FFC62856A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B08037-4432-4045-BCD5-02C6B261B6A1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erglei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83D731-440B-46E8-A7E8-BA45C0E9D149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00D46B-2059-4852-B65D-F496ABF28C89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1D8590-D1CE-4825-B7D3-DFCED247005B}" type="slidenum"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5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de-DE" cap="small" dirty="0">
                <a:solidFill>
                  <a:schemeClr val="accent1">
                    <a:lumMod val="75000"/>
                  </a:schemeClr>
                </a:solidFill>
              </a:rPr>
              <a:t>Milestone 4: Team „</a:t>
            </a:r>
            <a:r>
              <a:rPr lang="de-DE" cap="small" dirty="0" err="1">
                <a:solidFill>
                  <a:schemeClr val="accent1">
                    <a:lumMod val="75000"/>
                  </a:schemeClr>
                </a:solidFill>
              </a:rPr>
              <a:t>Pandaas</a:t>
            </a:r>
            <a:r>
              <a:rPr lang="de-DE" cap="small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2" name="Textfeld 7"/>
          <p:cNvSpPr/>
          <p:nvPr/>
        </p:nvSpPr>
        <p:spPr>
          <a:xfrm>
            <a:off x="924120" y="878760"/>
            <a:ext cx="872496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de-DE" b="1" dirty="0">
                <a:solidFill>
                  <a:schemeClr val="dk1"/>
                </a:solidFill>
              </a:rPr>
              <a:t>Members: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Adarsh</a:t>
            </a:r>
            <a:r>
              <a:rPr lang="de-DE" dirty="0">
                <a:solidFill>
                  <a:schemeClr val="dk1"/>
                </a:solidFill>
              </a:rPr>
              <a:t> Panda, </a:t>
            </a:r>
            <a:r>
              <a:rPr lang="de-DE" dirty="0" err="1">
                <a:solidFill>
                  <a:schemeClr val="dk1"/>
                </a:solidFill>
              </a:rPr>
              <a:t>Abriti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Chakraborty</a:t>
            </a:r>
            <a:r>
              <a:rPr lang="de-DE" dirty="0">
                <a:solidFill>
                  <a:schemeClr val="dk1"/>
                </a:solidFill>
              </a:rPr>
              <a:t>, Anushree Rege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de-DE" b="1" dirty="0">
                <a:solidFill>
                  <a:schemeClr val="dk1"/>
                </a:solidFill>
              </a:rPr>
              <a:t>Dataset:</a:t>
            </a:r>
            <a:r>
              <a:rPr lang="de-DE" dirty="0">
                <a:solidFill>
                  <a:schemeClr val="dk1"/>
                </a:solidFill>
              </a:rPr>
              <a:t> Average Task Value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feld 10"/>
          <p:cNvSpPr/>
          <p:nvPr/>
        </p:nvSpPr>
        <p:spPr>
          <a:xfrm>
            <a:off x="924120" y="1458265"/>
            <a:ext cx="3952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800" b="0" u="none" strike="noStrike" dirty="0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Main Research Question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" name="Picture 2" descr="110+ Three Pandas Stock Photos, Pictures &amp; Royalty-Free ...">
            <a:extLst>
              <a:ext uri="{FF2B5EF4-FFF2-40B4-BE49-F238E27FC236}">
                <a16:creationId xmlns:a16="http://schemas.microsoft.com/office/drawing/2014/main" id="{37C5CFA5-4794-64C8-0243-FC8DA2546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609" y="74535"/>
            <a:ext cx="2245757" cy="15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747555-0496-FF55-F412-B95307874244}"/>
              </a:ext>
            </a:extLst>
          </p:cNvPr>
          <p:cNvSpPr txBox="1"/>
          <p:nvPr/>
        </p:nvSpPr>
        <p:spPr>
          <a:xfrm>
            <a:off x="924120" y="1747831"/>
            <a:ext cx="11147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dk1"/>
                </a:solidFill>
              </a:rPr>
              <a:t>Are </a:t>
            </a:r>
            <a:r>
              <a:rPr lang="de-DE" dirty="0" err="1">
                <a:solidFill>
                  <a:schemeClr val="dk1"/>
                </a:solidFill>
              </a:rPr>
              <a:t>we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surprised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differently</a:t>
            </a:r>
            <a:r>
              <a:rPr lang="de-DE" dirty="0">
                <a:solidFill>
                  <a:schemeClr val="dk1"/>
                </a:solidFill>
              </a:rPr>
              <a:t>, </a:t>
            </a:r>
            <a:r>
              <a:rPr lang="de-DE" dirty="0" err="1">
                <a:solidFill>
                  <a:schemeClr val="dk1"/>
                </a:solidFill>
              </a:rPr>
              <a:t>if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our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visual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predictions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were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created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by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inferred</a:t>
            </a:r>
            <a:r>
              <a:rPr lang="de-DE" dirty="0">
                <a:solidFill>
                  <a:schemeClr val="dk1"/>
                </a:solidFill>
              </a:rPr>
              <a:t> (</a:t>
            </a:r>
            <a:r>
              <a:rPr lang="de-DE" dirty="0" err="1">
                <a:solidFill>
                  <a:schemeClr val="dk1"/>
                </a:solidFill>
              </a:rPr>
              <a:t>that</a:t>
            </a:r>
            <a:r>
              <a:rPr lang="de-DE" dirty="0">
                <a:solidFill>
                  <a:schemeClr val="dk1"/>
                </a:solidFill>
              </a:rPr>
              <a:t> </a:t>
            </a:r>
            <a:r>
              <a:rPr lang="de-DE" dirty="0" err="1">
                <a:solidFill>
                  <a:schemeClr val="dk1"/>
                </a:solidFill>
              </a:rPr>
              <a:t>is</a:t>
            </a:r>
            <a:r>
              <a:rPr lang="de-DE" dirty="0">
                <a:solidFill>
                  <a:schemeClr val="dk1"/>
                </a:solidFill>
              </a:rPr>
              <a:t>, internal) </a:t>
            </a:r>
            <a:r>
              <a:rPr lang="de-DE" dirty="0" err="1">
                <a:solidFill>
                  <a:schemeClr val="dk1"/>
                </a:solidFill>
              </a:rPr>
              <a:t>information</a:t>
            </a:r>
            <a:r>
              <a:rPr lang="de-DE" dirty="0">
                <a:solidFill>
                  <a:schemeClr val="dk1"/>
                </a:solidFill>
              </a:rPr>
              <a:t>?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E822F-D96E-0C16-4BF0-09B5DDE3C7BF}"/>
              </a:ext>
            </a:extLst>
          </p:cNvPr>
          <p:cNvSpPr txBox="1"/>
          <p:nvPr/>
        </p:nvSpPr>
        <p:spPr>
          <a:xfrm>
            <a:off x="400062" y="225155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1. PSD Before &amp; After filtering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91161-6EAF-CF68-4D44-13464E262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315" y="2755274"/>
            <a:ext cx="3911566" cy="1872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B2DC99-6BBB-A328-D967-543FEB831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781000"/>
            <a:ext cx="3870250" cy="18725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2A1A21F-873B-F7D8-9B2F-20E52ABF014D}"/>
              </a:ext>
            </a:extLst>
          </p:cNvPr>
          <p:cNvSpPr txBox="1"/>
          <p:nvPr/>
        </p:nvSpPr>
        <p:spPr>
          <a:xfrm>
            <a:off x="7920627" y="2364897"/>
            <a:ext cx="611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3. Raw vs Clean EEG</a:t>
            </a:r>
            <a:endParaRPr lang="en-DE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8DC922-06F7-51D7-60B2-688ED8F3A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74" y="2818615"/>
            <a:ext cx="4990479" cy="16398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A2B82B-3F06-869C-ABE7-F31F37D49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7914" y="4559881"/>
            <a:ext cx="4783998" cy="16919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E095D-8BDF-3406-C8C4-2132BE9E79EC}"/>
              </a:ext>
            </a:extLst>
          </p:cNvPr>
          <p:cNvSpPr txBox="1"/>
          <p:nvPr/>
        </p:nvSpPr>
        <p:spPr>
          <a:xfrm>
            <a:off x="3977329" y="2259713"/>
            <a:ext cx="2520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2. ICA topographies</a:t>
            </a:r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A2C525-15AB-6577-A005-CECC063D00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329" y="2944834"/>
            <a:ext cx="3557345" cy="35281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feld 3"/>
          <p:cNvSpPr/>
          <p:nvPr/>
        </p:nvSpPr>
        <p:spPr>
          <a:xfrm>
            <a:off x="5298633" y="3510540"/>
            <a:ext cx="7100777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GB" sz="1400" dirty="0"/>
              <a:t>We used ICA to detect eye-blink artifacts. Without EOG sensors, the frontal EEG channel Fp1 served as a proxy. One blink-related component was identified and removed before analysis.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" name="Picture 2" descr="110+ Three Pandas Stock Photos, Pictures &amp; Royalty-Free ...">
            <a:extLst>
              <a:ext uri="{FF2B5EF4-FFF2-40B4-BE49-F238E27FC236}">
                <a16:creationId xmlns:a16="http://schemas.microsoft.com/office/drawing/2014/main" id="{3F47B2D0-BC51-E310-664B-33978E47B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609" y="74535"/>
            <a:ext cx="2245757" cy="158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5">
            <a:extLst>
              <a:ext uri="{FF2B5EF4-FFF2-40B4-BE49-F238E27FC236}">
                <a16:creationId xmlns:a16="http://schemas.microsoft.com/office/drawing/2014/main" id="{92CA53EE-5C0E-7925-7F38-6967467AF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1049" y="9443209"/>
            <a:ext cx="32363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CA Component Topographies – Subject 28</a:t>
            </a:r>
            <a:endParaRPr kumimoji="0" lang="en-DE" altLang="en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4123F-8B81-8903-79C7-66A9A07711C4}"/>
              </a:ext>
            </a:extLst>
          </p:cNvPr>
          <p:cNvSpPr txBox="1"/>
          <p:nvPr/>
        </p:nvSpPr>
        <p:spPr>
          <a:xfrm>
            <a:off x="185828" y="689640"/>
            <a:ext cx="3216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-webkit-standard"/>
              </a:rPr>
              <a:t>4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ERP plot</a:t>
            </a:r>
            <a:endParaRPr lang="en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B9637B-5546-4900-4FDF-0CBC3566A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40" y="1053655"/>
            <a:ext cx="4221126" cy="24657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335525-EA0A-0DC3-B420-7105D2D421AB}"/>
              </a:ext>
            </a:extLst>
          </p:cNvPr>
          <p:cNvSpPr txBox="1"/>
          <p:nvPr/>
        </p:nvSpPr>
        <p:spPr>
          <a:xfrm>
            <a:off x="2276" y="3560761"/>
            <a:ext cx="4665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-webkit-standard"/>
              </a:rPr>
              <a:t>5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Butterfly plot</a:t>
            </a:r>
            <a:endParaRPr lang="en-D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64277C-D1C6-F39E-64DC-9F4B6A7A6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71478"/>
            <a:ext cx="4763386" cy="28201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28C966-09A7-6CA5-7EE8-6D7CA757C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9375" y="1849840"/>
            <a:ext cx="5188121" cy="8733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8A050E-DBA9-6EFF-443B-904B2C4607E0}"/>
              </a:ext>
            </a:extLst>
          </p:cNvPr>
          <p:cNvSpPr txBox="1"/>
          <p:nvPr/>
        </p:nvSpPr>
        <p:spPr>
          <a:xfrm>
            <a:off x="5235904" y="1392553"/>
            <a:ext cx="3906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-webkit-standard"/>
              </a:rPr>
              <a:t>6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Checkin</a:t>
            </a:r>
            <a:r>
              <a:rPr lang="en-GB" dirty="0">
                <a:solidFill>
                  <a:srgbClr val="000000"/>
                </a:solidFill>
                <a:latin typeface="-webkit-standard"/>
              </a:rPr>
              <a:t>g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Flat/Nearly dead channels</a:t>
            </a:r>
            <a:endParaRPr lang="en-DE" dirty="0"/>
          </a:p>
        </p:txBody>
      </p:sp>
      <p:sp>
        <p:nvSpPr>
          <p:cNvPr id="9" name="PlaceHolder 1">
            <a:extLst>
              <a:ext uri="{FF2B5EF4-FFF2-40B4-BE49-F238E27FC236}">
                <a16:creationId xmlns:a16="http://schemas.microsoft.com/office/drawing/2014/main" id="{903A2418-3BD2-5BA7-A881-44140542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28" y="164587"/>
            <a:ext cx="10514880" cy="5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>
              <a:tabLst>
                <a:tab pos="0" algn="l"/>
              </a:tabLst>
            </a:pPr>
            <a:r>
              <a:rPr lang="de-DE" cap="small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de-DE" cap="small" dirty="0" err="1">
                <a:solidFill>
                  <a:schemeClr val="accent1">
                    <a:lumMod val="75000"/>
                  </a:schemeClr>
                </a:solidFill>
              </a:rPr>
              <a:t>comparison</a:t>
            </a:r>
            <a:r>
              <a:rPr lang="de-DE" cap="small" dirty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de-DE" cap="small" dirty="0" err="1">
                <a:solidFill>
                  <a:schemeClr val="accent1">
                    <a:lumMod val="75000"/>
                  </a:schemeClr>
                </a:solidFill>
              </a:rPr>
              <a:t>checks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A6A651-074D-8A7B-47A4-F1DFE276752D}"/>
              </a:ext>
            </a:extLst>
          </p:cNvPr>
          <p:cNvSpPr txBox="1"/>
          <p:nvPr/>
        </p:nvSpPr>
        <p:spPr>
          <a:xfrm>
            <a:off x="5235904" y="3150044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-webkit-standard"/>
              </a:rPr>
              <a:t>7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Blink-detection sanity check (Fp1/Fp2 pseudo-EOG)</a:t>
            </a:r>
            <a:endParaRPr lang="en-DE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F5447D-EAB2-A9EC-2710-5985BCFBA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9078" y="4209790"/>
            <a:ext cx="6489700" cy="1968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132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-webkit-standard</vt:lpstr>
      <vt:lpstr>Arial</vt:lpstr>
      <vt:lpstr>Calibri</vt:lpstr>
      <vt:lpstr>Calibri Light</vt:lpstr>
      <vt:lpstr>Symbol</vt:lpstr>
      <vt:lpstr>Wingdings</vt:lpstr>
      <vt:lpstr>Office</vt:lpstr>
      <vt:lpstr>Milestone 4: Team „Pandaas“</vt:lpstr>
      <vt:lpstr>The comparison and checks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1: Team „Strawbrainy“</dc:title>
  <dc:subject/>
  <dc:creator>Benedikt Ehinger</dc:creator>
  <dc:description/>
  <cp:lastModifiedBy>Anushree Rege</cp:lastModifiedBy>
  <cp:revision>57</cp:revision>
  <dcterms:created xsi:type="dcterms:W3CDTF">2025-10-09T12:23:50Z</dcterms:created>
  <dcterms:modified xsi:type="dcterms:W3CDTF">2026-01-18T21:01:29Z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