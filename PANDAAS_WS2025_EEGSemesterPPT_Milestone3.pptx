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7772400" cy="100584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7"/>
    <p:restoredTop sz="94651"/>
  </p:normalViewPr>
  <p:slideViewPr>
    <p:cSldViewPr snapToGrid="0">
      <p:cViewPr varScale="1">
        <p:scale>
          <a:sx n="105" d="100"/>
          <a:sy n="105" d="100"/>
        </p:scale>
        <p:origin x="208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3F578CA-8DF3-4D0F-BAC6-09C7E8FA2ED7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mit 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35B932-1B99-47C2-873F-FC2B77C575D0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ld mit 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BC1D4B-70C4-4FDA-9381-4E74A01779DF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75C03D-268F-48D6-8BBA-48BCDFAC229F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B6009E-BD3A-4ED7-A69A-6F2D2B080CBA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6DD3E6-5766-4AE3-8ED4-266055B19D02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bschnitts-&#10;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Mastertextformat bearbeiten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7CE12E-F0F5-4C4B-81A8-B35FFC62856A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B08037-4432-4045-BCD5-02C6B261B6A1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ergleic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51" name="PlaceHolder 8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83D731-440B-46E8-A7E8-BA45C0E9D149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A00D46B-2059-4852-B65D-F496ABF28C89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58" name="PlaceHolder 3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1D8590-D1CE-4825-B7D3-DFCED247005B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>
              <a:tabLst>
                <a:tab pos="0" algn="l"/>
              </a:tabLst>
            </a:pPr>
            <a:r>
              <a:rPr lang="de-DE" cap="small" dirty="0">
                <a:solidFill>
                  <a:schemeClr val="accent1">
                    <a:lumMod val="75000"/>
                  </a:schemeClr>
                </a:solidFill>
              </a:rPr>
              <a:t>Milestone 3: Team „</a:t>
            </a:r>
            <a:r>
              <a:rPr lang="de-DE" cap="small" dirty="0" err="1">
                <a:solidFill>
                  <a:schemeClr val="accent1">
                    <a:lumMod val="75000"/>
                  </a:schemeClr>
                </a:solidFill>
              </a:rPr>
              <a:t>Pandaas</a:t>
            </a:r>
            <a:r>
              <a:rPr lang="de-DE" cap="small" dirty="0">
                <a:solidFill>
                  <a:schemeClr val="accent1">
                    <a:lumMod val="75000"/>
                  </a:schemeClr>
                </a:solidFill>
              </a:rPr>
              <a:t>“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2" name="Textfeld 7"/>
          <p:cNvSpPr/>
          <p:nvPr/>
        </p:nvSpPr>
        <p:spPr>
          <a:xfrm>
            <a:off x="924120" y="878760"/>
            <a:ext cx="872496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de-DE" b="1" dirty="0">
                <a:solidFill>
                  <a:schemeClr val="dk1"/>
                </a:solidFill>
              </a:rPr>
              <a:t>Members:</a:t>
            </a:r>
            <a:r>
              <a:rPr lang="de-DE" dirty="0">
                <a:solidFill>
                  <a:schemeClr val="dk1"/>
                </a:solidFill>
              </a:rPr>
              <a:t> </a:t>
            </a:r>
            <a:r>
              <a:rPr lang="de-DE" dirty="0" err="1">
                <a:solidFill>
                  <a:schemeClr val="dk1"/>
                </a:solidFill>
              </a:rPr>
              <a:t>Adarsh</a:t>
            </a:r>
            <a:r>
              <a:rPr lang="de-DE" dirty="0">
                <a:solidFill>
                  <a:schemeClr val="dk1"/>
                </a:solidFill>
              </a:rPr>
              <a:t> Panda, </a:t>
            </a:r>
            <a:r>
              <a:rPr lang="de-DE" dirty="0" err="1">
                <a:solidFill>
                  <a:schemeClr val="dk1"/>
                </a:solidFill>
              </a:rPr>
              <a:t>Abriti</a:t>
            </a:r>
            <a:r>
              <a:rPr lang="de-DE" dirty="0">
                <a:solidFill>
                  <a:schemeClr val="dk1"/>
                </a:solidFill>
              </a:rPr>
              <a:t> </a:t>
            </a:r>
            <a:r>
              <a:rPr lang="de-DE" dirty="0" err="1">
                <a:solidFill>
                  <a:schemeClr val="dk1"/>
                </a:solidFill>
              </a:rPr>
              <a:t>Chakraborty</a:t>
            </a:r>
            <a:r>
              <a:rPr lang="de-DE" dirty="0">
                <a:solidFill>
                  <a:schemeClr val="dk1"/>
                </a:solidFill>
              </a:rPr>
              <a:t>, Anushree Rege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de-DE" b="1" dirty="0">
                <a:solidFill>
                  <a:schemeClr val="dk1"/>
                </a:solidFill>
              </a:rPr>
              <a:t>Dataset:</a:t>
            </a:r>
            <a:r>
              <a:rPr lang="de-DE" dirty="0">
                <a:solidFill>
                  <a:schemeClr val="dk1"/>
                </a:solidFill>
              </a:rPr>
              <a:t> Average Task Value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feld 10"/>
          <p:cNvSpPr/>
          <p:nvPr/>
        </p:nvSpPr>
        <p:spPr>
          <a:xfrm>
            <a:off x="628560" y="1829520"/>
            <a:ext cx="39520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800" b="0" u="none" strike="noStrike" dirty="0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Main Research Question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115520" y="6401520"/>
            <a:ext cx="4488120" cy="550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Analysis: fill in only as far as already possible</a:t>
            </a:r>
          </a:p>
        </p:txBody>
      </p:sp>
      <p:pic>
        <p:nvPicPr>
          <p:cNvPr id="2" name="Picture 2" descr="110+ Three Pandas Stock Photos, Pictures &amp; Royalty-Free ...">
            <a:extLst>
              <a:ext uri="{FF2B5EF4-FFF2-40B4-BE49-F238E27FC236}">
                <a16:creationId xmlns:a16="http://schemas.microsoft.com/office/drawing/2014/main" id="{37C5CFA5-4794-64C8-0243-FC8DA2546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4609" y="74535"/>
            <a:ext cx="2245757" cy="158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747555-0496-FF55-F412-B95307874244}"/>
              </a:ext>
            </a:extLst>
          </p:cNvPr>
          <p:cNvSpPr txBox="1"/>
          <p:nvPr/>
        </p:nvSpPr>
        <p:spPr>
          <a:xfrm>
            <a:off x="628559" y="2182794"/>
            <a:ext cx="11147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How does reward-related feedback influence neural responses as measured through event-related potentials (ERPs)?</a:t>
            </a:r>
            <a:endParaRPr lang="en-DE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33D96C7-5162-5296-D24B-1DCDA7624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910373"/>
              </p:ext>
            </p:extLst>
          </p:nvPr>
        </p:nvGraphicFramePr>
        <p:xfrm>
          <a:off x="742428" y="2960540"/>
          <a:ext cx="11033560" cy="3754517"/>
        </p:xfrm>
        <a:graphic>
          <a:graphicData uri="http://schemas.openxmlformats.org/drawingml/2006/table">
            <a:tbl>
              <a:tblPr/>
              <a:tblGrid>
                <a:gridCol w="1382059">
                  <a:extLst>
                    <a:ext uri="{9D8B030D-6E8A-4147-A177-3AD203B41FA5}">
                      <a16:colId xmlns:a16="http://schemas.microsoft.com/office/drawing/2014/main" val="99231554"/>
                    </a:ext>
                  </a:extLst>
                </a:gridCol>
                <a:gridCol w="2592306">
                  <a:extLst>
                    <a:ext uri="{9D8B030D-6E8A-4147-A177-3AD203B41FA5}">
                      <a16:colId xmlns:a16="http://schemas.microsoft.com/office/drawing/2014/main" val="1690111394"/>
                    </a:ext>
                  </a:extLst>
                </a:gridCol>
                <a:gridCol w="2983656">
                  <a:extLst>
                    <a:ext uri="{9D8B030D-6E8A-4147-A177-3AD203B41FA5}">
                      <a16:colId xmlns:a16="http://schemas.microsoft.com/office/drawing/2014/main" val="317731543"/>
                    </a:ext>
                  </a:extLst>
                </a:gridCol>
                <a:gridCol w="4075539">
                  <a:extLst>
                    <a:ext uri="{9D8B030D-6E8A-4147-A177-3AD203B41FA5}">
                      <a16:colId xmlns:a16="http://schemas.microsoft.com/office/drawing/2014/main" val="804687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Step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Authors' Pipeline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My Improved Pipeline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Changes Highlighted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493374"/>
                  </a:ext>
                </a:extLst>
              </a:tr>
              <a:tr h="361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Data Import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/>
                        <a:t>BrainVision files (vhdr, vmrk, eeg)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Same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0" dirty="0"/>
                        <a:t>—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24675"/>
                  </a:ext>
                </a:extLst>
              </a:tr>
              <a:tr h="516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/>
                        <a:t>Initial Filtering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0.1–40 Hz band-pass filter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0.1–30 Hz band-pass filter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Stricter filtering to remove slow drifts + muscle noise. Preserves P300 low frequencies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232376"/>
                  </a:ext>
                </a:extLst>
              </a:tr>
              <a:tr h="250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Down sampling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/>
                        <a:t>Optional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/>
                        <a:t>Not applied (yet)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b="0"/>
                        <a:t>—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326162"/>
                  </a:ext>
                </a:extLst>
              </a:tr>
              <a:tr h="250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Referencing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/>
                        <a:t>Average reference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/>
                        <a:t>Average reference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No mastoids, Average is standard and stable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7040917"/>
                  </a:ext>
                </a:extLst>
              </a:tr>
              <a:tr h="43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/>
                        <a:t>Artifact Removal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ICA + EOG channels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/>
                        <a:t>ICA using pseudo-EOG (Fp1)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/>
                        <a:t>Different method due to missing EOG sensors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845709"/>
                  </a:ext>
                </a:extLst>
              </a:tr>
              <a:tr h="43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/>
                        <a:t>Blink Detection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/>
                        <a:t>find_bads_eog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Correlation-based detection using Fp1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/>
                        <a:t>Adapted approach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53944"/>
                  </a:ext>
                </a:extLst>
              </a:tr>
              <a:tr h="361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/>
                        <a:t>Epoching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−200 to 800 </a:t>
                      </a:r>
                      <a:r>
                        <a:rPr lang="en-GB" sz="1400" dirty="0" err="1"/>
                        <a:t>ms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Same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Standard FRN/P300 window</a:t>
                      </a:r>
                      <a:endParaRPr lang="en-DE" sz="1400" b="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743076"/>
                  </a:ext>
                </a:extLst>
              </a:tr>
              <a:tr h="250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/>
                        <a:t>Baseline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/>
                        <a:t>-200 to 0 ms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/>
                        <a:t>-200 to 0 ms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Works well with 0.1 Hz filter</a:t>
                      </a:r>
                      <a:endParaRPr lang="en-GB" sz="1400" b="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285058"/>
                  </a:ext>
                </a:extLst>
              </a:tr>
              <a:tr h="361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/>
                        <a:t>Output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TRF Regression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ERP difference first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TRF too complex for reproduction; professor correction</a:t>
                      </a:r>
                      <a:endParaRPr lang="en-DE" sz="1400" b="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249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5F64B88-1FFA-5B5E-8272-6EA947265353}"/>
              </a:ext>
            </a:extLst>
          </p:cNvPr>
          <p:cNvSpPr txBox="1"/>
          <p:nvPr/>
        </p:nvSpPr>
        <p:spPr>
          <a:xfrm>
            <a:off x="628558" y="2549145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accent5">
                    <a:lumMod val="75000"/>
                  </a:schemeClr>
                </a:solidFill>
              </a:rPr>
              <a:t>Pipeline Processing (</a:t>
            </a:r>
            <a:r>
              <a:rPr lang="de-DE" dirty="0" err="1">
                <a:solidFill>
                  <a:schemeClr val="accent5">
                    <a:lumMod val="75000"/>
                  </a:schemeClr>
                </a:solidFill>
              </a:rPr>
              <a:t>Author‘s</a:t>
            </a:r>
            <a:r>
              <a:rPr lang="de-DE" dirty="0">
                <a:solidFill>
                  <a:schemeClr val="accent5">
                    <a:lumMod val="75000"/>
                  </a:schemeClr>
                </a:solidFill>
              </a:rPr>
              <a:t> vs. Mine)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feld 3"/>
          <p:cNvSpPr/>
          <p:nvPr/>
        </p:nvSpPr>
        <p:spPr>
          <a:xfrm>
            <a:off x="457200" y="45720"/>
            <a:ext cx="35564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2600" b="0" u="none" strike="noStrike" dirty="0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3. Data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" name="Picture 2" descr="110+ Three Pandas Stock Photos, Pictures &amp; Royalty-Free ...">
            <a:extLst>
              <a:ext uri="{FF2B5EF4-FFF2-40B4-BE49-F238E27FC236}">
                <a16:creationId xmlns:a16="http://schemas.microsoft.com/office/drawing/2014/main" id="{3F47B2D0-BC51-E310-664B-33978E47B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4609" y="74535"/>
            <a:ext cx="2245757" cy="158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71B9EC-DE6A-5DFE-EEB8-7AC296813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5195"/>
            <a:ext cx="4566065" cy="1656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5336EE-702F-B74E-0ADD-251F9CC20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10" y="2281412"/>
            <a:ext cx="4545855" cy="16224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890A85-C3C2-97ED-FCE6-D62AF0FA3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9370" y="425195"/>
            <a:ext cx="3311455" cy="32397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460147-282E-B7B5-1507-E59574E9B4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6066" y="4088548"/>
            <a:ext cx="4083113" cy="22777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8252DDF-2B94-564D-A23C-D59668D0DB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0481" y="4088548"/>
            <a:ext cx="4609608" cy="24778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30975E3-C12C-4191-FE5A-749D202A54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0285" y="1743268"/>
            <a:ext cx="3957099" cy="20080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B83435-9162-31F7-F20C-071B5F1D09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7671" y="4064056"/>
            <a:ext cx="3543090" cy="2144089"/>
          </a:xfrm>
          <a:prstGeom prst="rect">
            <a:avLst/>
          </a:prstGeom>
        </p:spPr>
      </p:pic>
      <p:sp>
        <p:nvSpPr>
          <p:cNvPr id="20" name="Rectangle 3">
            <a:extLst>
              <a:ext uri="{FF2B5EF4-FFF2-40B4-BE49-F238E27FC236}">
                <a16:creationId xmlns:a16="http://schemas.microsoft.com/office/drawing/2014/main" id="{0B0CA7CC-8B73-9548-DBED-32C63248C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0481" y="2029559"/>
            <a:ext cx="560832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Power Spectral Density (PSD) Before Filtering – Raw EEG</a:t>
            </a:r>
            <a:endParaRPr kumimoji="0" lang="en-DE" altLang="en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02B7E0D8-DB6E-87E3-F237-F880F3CDC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0481" y="3751348"/>
            <a:ext cx="484651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Power Spectral Density (PSD) After 0.1–30 Hz Filtering</a:t>
            </a:r>
            <a:endParaRPr kumimoji="0" lang="en-DE" altLang="en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92CA53EE-5C0E-7925-7F38-6967467AF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1049" y="9443209"/>
            <a:ext cx="32363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CA Component Topographies – Subject 28</a:t>
            </a:r>
            <a:endParaRPr kumimoji="0" lang="en-DE" altLang="en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7BBD9834-67F7-EEEE-E1C4-DBA3A6B7A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4489" y="3738240"/>
            <a:ext cx="328121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ICA Component Topographies – Subject 28</a:t>
            </a:r>
            <a:endParaRPr kumimoji="0" lang="en-DE" altLang="en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B00C8E-1BBB-541B-AC6F-944F03DADC47}"/>
              </a:ext>
            </a:extLst>
          </p:cNvPr>
          <p:cNvSpPr txBox="1"/>
          <p:nvPr/>
        </p:nvSpPr>
        <p:spPr>
          <a:xfrm>
            <a:off x="-30481" y="6540224"/>
            <a:ext cx="44528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Clean EEG After ICA &amp; Filtering</a:t>
            </a:r>
            <a:endParaRPr lang="en-DE" sz="1400" dirty="0"/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C3C5FE77-EBA4-971F-0BF7-7647199EF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8106" y="3749993"/>
            <a:ext cx="325300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Event-Related Potential (ERP) – Subject 28</a:t>
            </a:r>
            <a:endParaRPr kumimoji="0" lang="en-DE" altLang="en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F8F6C7-6608-927A-AA0B-1F2232013547}"/>
              </a:ext>
            </a:extLst>
          </p:cNvPr>
          <p:cNvSpPr txBox="1"/>
          <p:nvPr/>
        </p:nvSpPr>
        <p:spPr>
          <a:xfrm>
            <a:off x="8511945" y="6366315"/>
            <a:ext cx="61813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Channel-wise variability in the evoked responses.</a:t>
            </a:r>
            <a:endParaRPr lang="en-DE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522C37-9D6B-7109-6199-162556A71B36}"/>
              </a:ext>
            </a:extLst>
          </p:cNvPr>
          <p:cNvSpPr txBox="1"/>
          <p:nvPr/>
        </p:nvSpPr>
        <p:spPr>
          <a:xfrm>
            <a:off x="4785553" y="6408653"/>
            <a:ext cx="7406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Raw EEG (Static Plot)</a:t>
            </a:r>
            <a:endParaRPr lang="en-DE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266</Words>
  <Application>Microsoft Macintosh PowerPoint</Application>
  <PresentationFormat>Widescreen</PresentationFormat>
  <Paragraphs>56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-webkit-standard</vt:lpstr>
      <vt:lpstr>Arial</vt:lpstr>
      <vt:lpstr>Calibri</vt:lpstr>
      <vt:lpstr>Calibri Light</vt:lpstr>
      <vt:lpstr>Symbol</vt:lpstr>
      <vt:lpstr>Wingdings</vt:lpstr>
      <vt:lpstr>Office</vt:lpstr>
      <vt:lpstr>Milestone 3: Team „Pandaas“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1: Team „Strawbrainy“</dc:title>
  <dc:subject/>
  <dc:creator>Benedikt Ehinger</dc:creator>
  <dc:description/>
  <cp:lastModifiedBy>Anushree Rege</cp:lastModifiedBy>
  <cp:revision>54</cp:revision>
  <dcterms:created xsi:type="dcterms:W3CDTF">2025-10-09T12:23:50Z</dcterms:created>
  <dcterms:modified xsi:type="dcterms:W3CDTF">2025-12-12T03:29:33Z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