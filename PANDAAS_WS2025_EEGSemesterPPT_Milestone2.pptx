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651"/>
  </p:normalViewPr>
  <p:slideViewPr>
    <p:cSldViewPr snapToGrid="0">
      <p:cViewPr varScale="1">
        <p:scale>
          <a:sx n="110" d="100"/>
          <a:sy n="11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F578CA-8DF3-4D0F-BAC6-09C7E8FA2ED7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35B932-1B99-47C2-873F-FC2B77C575D0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BC1D4B-70C4-4FDA-9381-4E74A01779DF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75C03D-268F-48D6-8BBA-48BCDFAC229F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B6009E-BD3A-4ED7-A69A-6F2D2B080CB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6DD3E6-5766-4AE3-8ED4-266055B19D02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7CE12E-F0F5-4C4B-81A8-B35FFC62856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B08037-4432-4045-BCD5-02C6B261B6A1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83D731-440B-46E8-A7E8-BA45C0E9D14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00D46B-2059-4852-B65D-F496ABF28C8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1D8590-D1CE-4825-B7D3-DFCED247005B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de-DE" cap="small">
                <a:solidFill>
                  <a:schemeClr val="accent1">
                    <a:lumMod val="75000"/>
                  </a:schemeClr>
                </a:solidFill>
              </a:rPr>
              <a:t>Milestone 2: </a:t>
            </a: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Team „</a:t>
            </a:r>
            <a:r>
              <a:rPr lang="de-DE" cap="small" dirty="0" err="1">
                <a:solidFill>
                  <a:schemeClr val="accent1">
                    <a:lumMod val="75000"/>
                  </a:schemeClr>
                </a:solidFill>
              </a:rPr>
              <a:t>Pandaas</a:t>
            </a: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2" name="Textfeld 7"/>
          <p:cNvSpPr/>
          <p:nvPr/>
        </p:nvSpPr>
        <p:spPr>
          <a:xfrm>
            <a:off x="924120" y="878760"/>
            <a:ext cx="872496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de-DE" b="1" dirty="0">
                <a:solidFill>
                  <a:schemeClr val="dk1"/>
                </a:solidFill>
              </a:rPr>
              <a:t>Members: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Adarsh</a:t>
            </a:r>
            <a:r>
              <a:rPr lang="de-DE" dirty="0">
                <a:solidFill>
                  <a:schemeClr val="dk1"/>
                </a:solidFill>
              </a:rPr>
              <a:t> Panda, </a:t>
            </a:r>
            <a:r>
              <a:rPr lang="de-DE" dirty="0" err="1">
                <a:solidFill>
                  <a:schemeClr val="dk1"/>
                </a:solidFill>
              </a:rPr>
              <a:t>Abriti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Chakraborty</a:t>
            </a:r>
            <a:r>
              <a:rPr lang="de-DE" dirty="0">
                <a:solidFill>
                  <a:schemeClr val="dk1"/>
                </a:solidFill>
              </a:rPr>
              <a:t>, Anushree Rege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de-DE" b="1" dirty="0">
                <a:solidFill>
                  <a:schemeClr val="dk1"/>
                </a:solidFill>
              </a:rPr>
              <a:t>Dataset:</a:t>
            </a:r>
            <a:r>
              <a:rPr lang="de-DE" dirty="0">
                <a:solidFill>
                  <a:schemeClr val="dk1"/>
                </a:solidFill>
              </a:rPr>
              <a:t> Average Task Value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feld 10"/>
          <p:cNvSpPr/>
          <p:nvPr/>
        </p:nvSpPr>
        <p:spPr>
          <a:xfrm>
            <a:off x="628560" y="1829520"/>
            <a:ext cx="3952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Main Research Question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15520" y="6401520"/>
            <a:ext cx="4488120" cy="55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Analysis: fill in only as far as already possible</a:t>
            </a:r>
          </a:p>
        </p:txBody>
      </p:sp>
      <p:pic>
        <p:nvPicPr>
          <p:cNvPr id="2" name="Picture 2" descr="110+ Three Pandas Stock Photos, Pictures &amp; Royalty-Free ...">
            <a:extLst>
              <a:ext uri="{FF2B5EF4-FFF2-40B4-BE49-F238E27FC236}">
                <a16:creationId xmlns:a16="http://schemas.microsoft.com/office/drawing/2014/main" id="{37C5CFA5-4794-64C8-0243-FC8DA2546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09" y="74535"/>
            <a:ext cx="2245757" cy="1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4274889-0A5A-4EB8-62D5-98529BA9F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80" y="233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Does the brain react differently to rewards depending on the </a:t>
            </a:r>
            <a:r>
              <a:rPr kumimoji="0" lang="en-DE" altLang="en-DE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contextual value</a:t>
            </a:r>
            <a: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of the task?</a:t>
            </a: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D69E29-E539-2801-9EFF-4DA0F705E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831084"/>
              </p:ext>
            </p:extLst>
          </p:nvPr>
        </p:nvGraphicFramePr>
        <p:xfrm>
          <a:off x="838080" y="3124561"/>
          <a:ext cx="9661859" cy="2682240"/>
        </p:xfrm>
        <a:graphic>
          <a:graphicData uri="http://schemas.openxmlformats.org/drawingml/2006/table">
            <a:tbl>
              <a:tblPr/>
              <a:tblGrid>
                <a:gridCol w="2298525">
                  <a:extLst>
                    <a:ext uri="{9D8B030D-6E8A-4147-A177-3AD203B41FA5}">
                      <a16:colId xmlns:a16="http://schemas.microsoft.com/office/drawing/2014/main" val="377420178"/>
                    </a:ext>
                  </a:extLst>
                </a:gridCol>
                <a:gridCol w="2606485">
                  <a:extLst>
                    <a:ext uri="{9D8B030D-6E8A-4147-A177-3AD203B41FA5}">
                      <a16:colId xmlns:a16="http://schemas.microsoft.com/office/drawing/2014/main" val="1726693562"/>
                    </a:ext>
                  </a:extLst>
                </a:gridCol>
                <a:gridCol w="4756849">
                  <a:extLst>
                    <a:ext uri="{9D8B030D-6E8A-4147-A177-3AD203B41FA5}">
                      <a16:colId xmlns:a16="http://schemas.microsoft.com/office/drawing/2014/main" val="982186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Authors’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Our Planned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39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Filtering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0.1–40 Hz bandpass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1–30 Hz (to reduce slow drifts &amp; muscle noise)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68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Referencing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Average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Mastoid reference (or average — to test robustness)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657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Artifact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ICA for eye blinks &amp; saccades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ICA + automatic rejection (autoreject)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5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Epoching</a:t>
                      </a:r>
                      <a:endParaRPr lang="en-GB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-200 to 800 </a:t>
                      </a:r>
                      <a:r>
                        <a:rPr lang="en-GB" sz="1600" dirty="0" err="1"/>
                        <a:t>ms</a:t>
                      </a:r>
                      <a:endParaRPr lang="en-GB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Same window, but different baseline (we test −100 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47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Baseline Correction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-200 to 0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-100 to 0 ms (our variation)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83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ERP Component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FRN &amp; P300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FRN only (simplified analysis)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174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Regression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Simple difference-wave first +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543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feld 3"/>
          <p:cNvSpPr/>
          <p:nvPr/>
        </p:nvSpPr>
        <p:spPr>
          <a:xfrm>
            <a:off x="457200" y="45720"/>
            <a:ext cx="35564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26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3. Data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feld 4"/>
          <p:cNvSpPr/>
          <p:nvPr/>
        </p:nvSpPr>
        <p:spPr>
          <a:xfrm>
            <a:off x="6644160" y="2198520"/>
            <a:ext cx="4571280" cy="20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" name="Picture 2" descr="110+ Three Pandas Stock Photos, Pictures &amp; Royalty-Free ...">
            <a:extLst>
              <a:ext uri="{FF2B5EF4-FFF2-40B4-BE49-F238E27FC236}">
                <a16:creationId xmlns:a16="http://schemas.microsoft.com/office/drawing/2014/main" id="{3F47B2D0-BC51-E310-664B-33978E47B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09" y="74535"/>
            <a:ext cx="2245757" cy="1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D38BEF-5DC0-F8A4-B3C4-E396776A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446" y="-742"/>
            <a:ext cx="4845138" cy="31333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81F46C-24DF-F7F2-A106-87E7267E4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3" y="3207892"/>
            <a:ext cx="4434360" cy="3670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0022A3-3FB8-C3C5-EFEF-3B06E4B7F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584" y="2928612"/>
            <a:ext cx="3796050" cy="3854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ADE547-6517-2BEE-1D7F-9DD030AB0F43}"/>
              </a:ext>
            </a:extLst>
          </p:cNvPr>
          <p:cNvSpPr txBox="1"/>
          <p:nvPr/>
        </p:nvSpPr>
        <p:spPr>
          <a:xfrm>
            <a:off x="2321733" y="999460"/>
            <a:ext cx="1176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Subject-28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FB4BF-1991-6AFE-6977-10BFFD1EC03E}"/>
              </a:ext>
            </a:extLst>
          </p:cNvPr>
          <p:cNvSpPr txBox="1"/>
          <p:nvPr/>
        </p:nvSpPr>
        <p:spPr>
          <a:xfrm>
            <a:off x="9801268" y="2521889"/>
            <a:ext cx="1176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Subject-29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A3F1E-F291-8CEF-90BA-B241A4A61226}"/>
              </a:ext>
            </a:extLst>
          </p:cNvPr>
          <p:cNvSpPr txBox="1"/>
          <p:nvPr/>
        </p:nvSpPr>
        <p:spPr>
          <a:xfrm>
            <a:off x="1145514" y="2800922"/>
            <a:ext cx="1176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Subject-27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95AF-A825-AD00-F8D0-C1EFF9EA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Corrected pipeline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5D0071-B7ED-3833-B08D-920AD71BB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632546"/>
              </p:ext>
            </p:extLst>
          </p:nvPr>
        </p:nvGraphicFramePr>
        <p:xfrm>
          <a:off x="837360" y="1890874"/>
          <a:ext cx="10515600" cy="12801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141405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273687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91930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3965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Authors'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My Updated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8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Filtering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0.1–40 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0.1–30 Hz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Keeps low-frequency P300 &amp; removes high muscle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48669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DB6A05-6109-1967-D861-D6221A5EC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047016"/>
              </p:ext>
            </p:extLst>
          </p:nvPr>
        </p:nvGraphicFramePr>
        <p:xfrm>
          <a:off x="837360" y="3108961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922252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425200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0359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7482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Referencing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Average reference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Average reference (justified)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 mastoid electrodes present; average improves ERP 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859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F704EC-374E-3B1F-3EA3-401A9C7F5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005911"/>
              </p:ext>
            </p:extLst>
          </p:nvPr>
        </p:nvGraphicFramePr>
        <p:xfrm>
          <a:off x="837360" y="4023361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147120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76978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86369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49970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Statistics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Regression-based TRF modelling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Start with simple ERP difference waves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TRF is complex; our goal is robustness, not full reproduction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155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193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224</Words>
  <Application>Microsoft Macintosh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-webkit-standard</vt:lpstr>
      <vt:lpstr>Arial</vt:lpstr>
      <vt:lpstr>Calibri</vt:lpstr>
      <vt:lpstr>Calibri Light</vt:lpstr>
      <vt:lpstr>Symbol</vt:lpstr>
      <vt:lpstr>Wingdings</vt:lpstr>
      <vt:lpstr>Office</vt:lpstr>
      <vt:lpstr>Milestone 2: Team „Pandaas“</vt:lpstr>
      <vt:lpstr>PowerPoint Presentation</vt:lpstr>
      <vt:lpstr>Corrected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1: Team „Strawbrainy“</dc:title>
  <dc:subject/>
  <dc:creator>Benedikt Ehinger</dc:creator>
  <dc:description/>
  <cp:lastModifiedBy>Anushree Rege</cp:lastModifiedBy>
  <cp:revision>52</cp:revision>
  <dcterms:created xsi:type="dcterms:W3CDTF">2025-10-09T12:23:50Z</dcterms:created>
  <dcterms:modified xsi:type="dcterms:W3CDTF">2025-12-08T20:41:55Z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